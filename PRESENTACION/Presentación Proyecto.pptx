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2" r:id="rId11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en-US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en-US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en-US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en-US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24417" y="391160"/>
            <a:ext cx="10943167" cy="1082675"/>
          </a:xfrm>
        </p:spPr>
        <p:txBody>
          <a:bodyPr/>
          <a:p>
            <a:r>
              <a:rPr lang="es-MX" altLang="en-US" sz="6000" b="1">
                <a:solidFill>
                  <a:schemeClr val="tx1"/>
                </a:solidFill>
              </a:rPr>
              <a:t>Comuni-Alerta</a:t>
            </a:r>
            <a:endParaRPr lang="es-MX" altLang="en-US" sz="6000" b="1">
              <a:solidFill>
                <a:schemeClr val="tx1"/>
              </a:solidFill>
            </a:endParaRPr>
          </a:p>
        </p:txBody>
      </p:sp>
      <p:pic>
        <p:nvPicPr>
          <p:cNvPr id="5" name="Imagen 4" descr="e881a281-5eda-4bbd-b154-d7e43496e5c5"/>
          <p:cNvPicPr>
            <a:picLocks noChangeAspect="1"/>
          </p:cNvPicPr>
          <p:nvPr/>
        </p:nvPicPr>
        <p:blipFill>
          <a:blip r:embed="rId1">
            <a:clrChange>
              <a:clrFrom>
                <a:srgbClr val="F7F7F7">
                  <a:alpha val="100000"/>
                </a:srgbClr>
              </a:clrFrom>
              <a:clrTo>
                <a:srgbClr val="F7F7F7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47390" y="2193925"/>
            <a:ext cx="6031230" cy="35826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s-MX" altLang="en-US" b="1"/>
              <a:t>Parametros a tomar en cuenta</a:t>
            </a:r>
            <a:endParaRPr lang="es-MX" altLang="en-US" b="1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364490" y="1174750"/>
            <a:ext cx="10972800" cy="2028190"/>
          </a:xfrm>
        </p:spPr>
        <p:txBody>
          <a:bodyPr/>
          <a:p>
            <a:pPr marL="0" indent="0" algn="just">
              <a:buNone/>
            </a:pPr>
            <a:r>
              <a:rPr lang="es-MX" altLang="en-US"/>
              <a:t>Se estima que el robo o asalto en calle o transporte público en el estado de Morelos representó una tasa de     6,250 por cada Millón habitantes, durante 2022</a:t>
            </a:r>
            <a:endParaRPr lang="es-MX" altLang="en-US"/>
          </a:p>
          <a:p>
            <a:pPr marL="0" indent="0">
              <a:buNone/>
            </a:pPr>
            <a:endParaRPr lang="es-MX" altLang="en-US"/>
          </a:p>
        </p:txBody>
      </p:sp>
      <p:pic>
        <p:nvPicPr>
          <p:cNvPr id="103" name="Imagen 102"/>
          <p:cNvPicPr/>
          <p:nvPr/>
        </p:nvPicPr>
        <p:blipFill>
          <a:blip r:embed="rId1">
            <a:clrChange>
              <a:clrFrom>
                <a:srgbClr val="AEB0BC">
                  <a:alpha val="100000"/>
                </a:srgbClr>
              </a:clrFrom>
              <a:clrTo>
                <a:srgbClr val="AEB0BC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98395" y="2144395"/>
            <a:ext cx="5227320" cy="45885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s-MX" altLang="en-US" b="1"/>
              <a:t>Problematica Social.</a:t>
            </a:r>
            <a:endParaRPr lang="es-MX" altLang="en-US" b="1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s-MX" altLang="en-US">
                <a:sym typeface="+mn-ea"/>
              </a:rPr>
              <a:t>-En México; no se denuncia el 94% de los delitos que se cometen y menos del 1% son resueltos.</a:t>
            </a:r>
            <a:endParaRPr lang="es-MX" altLang="en-US"/>
          </a:p>
          <a:p>
            <a:pPr marL="0" indent="0">
              <a:buNone/>
            </a:pPr>
            <a:endParaRPr lang="es-MX" altLang="en-US"/>
          </a:p>
        </p:txBody>
      </p:sp>
      <p:pic>
        <p:nvPicPr>
          <p:cNvPr id="102" name="Imagen 101"/>
          <p:cNvPicPr/>
          <p:nvPr/>
        </p:nvPicPr>
        <p:blipFill>
          <a:blip r:embed="rId1"/>
          <a:stretch>
            <a:fillRect/>
          </a:stretch>
        </p:blipFill>
        <p:spPr>
          <a:xfrm>
            <a:off x="2548890" y="2708910"/>
            <a:ext cx="7094220" cy="3092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s-MX" altLang="en-US" b="1"/>
              <a:t>Problematica: Seguridad publica en el municipio</a:t>
            </a:r>
            <a:endParaRPr lang="es-MX" altLang="en-US" b="1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2422525" y="1174750"/>
            <a:ext cx="7347585" cy="1572895"/>
          </a:xfrm>
        </p:spPr>
        <p:txBody>
          <a:bodyPr/>
          <a:p>
            <a:pPr marL="0" indent="0" algn="ctr">
              <a:buNone/>
            </a:pPr>
            <a:r>
              <a:rPr lang="es-MX" altLang="en-US"/>
              <a:t>¿Como es que solucionariamos esto?:</a:t>
            </a:r>
            <a:endParaRPr lang="es-MX" altLang="en-US"/>
          </a:p>
          <a:p>
            <a:pPr marL="0" indent="0" algn="ctr">
              <a:buNone/>
            </a:pPr>
            <a:endParaRPr lang="es-MX" altLang="en-US"/>
          </a:p>
        </p:txBody>
      </p:sp>
      <p:sp>
        <p:nvSpPr>
          <p:cNvPr id="6" name="Cuadro de texto 5"/>
          <p:cNvSpPr txBox="1"/>
          <p:nvPr/>
        </p:nvSpPr>
        <p:spPr>
          <a:xfrm>
            <a:off x="788670" y="2239010"/>
            <a:ext cx="10509250" cy="3905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s-MX" altLang="en-US"/>
          </a:p>
        </p:txBody>
      </p:sp>
      <p:pic>
        <p:nvPicPr>
          <p:cNvPr id="7" name="Imagen 6" descr="e881a281-5eda-4bbd-b154-d7e43496e5c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1290" y="3148965"/>
            <a:ext cx="4250055" cy="2524760"/>
          </a:xfrm>
          <a:prstGeom prst="rect">
            <a:avLst/>
          </a:prstGeom>
        </p:spPr>
      </p:pic>
      <p:sp>
        <p:nvSpPr>
          <p:cNvPr id="8" name="Cuadro de texto 7"/>
          <p:cNvSpPr txBox="1"/>
          <p:nvPr/>
        </p:nvSpPr>
        <p:spPr>
          <a:xfrm>
            <a:off x="2422525" y="2379345"/>
            <a:ext cx="69088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s-MX" altLang="en-US" sz="3200" b="1"/>
              <a:t>Comuni-Alerta</a:t>
            </a:r>
            <a:endParaRPr lang="es-MX" altLang="en-US" sz="32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9785" y="190500"/>
            <a:ext cx="10972800" cy="899795"/>
          </a:xfrm>
        </p:spPr>
        <p:txBody>
          <a:bodyPr/>
          <a:p>
            <a:pPr algn="ctr"/>
            <a:r>
              <a:rPr lang="es-MX" altLang="en-US" b="1"/>
              <a:t>INTERFAZ DE LA APLICACIÓN: ALERTA COMUNITARIA</a:t>
            </a:r>
            <a:endParaRPr lang="es-MX" altLang="en-US" b="1"/>
          </a:p>
        </p:txBody>
      </p:sp>
      <p:pic>
        <p:nvPicPr>
          <p:cNvPr id="6" name="Imagen 5" descr="Captur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6630" y="1542415"/>
            <a:ext cx="2619375" cy="4648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Imagen 6" descr="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2030" y="1129030"/>
            <a:ext cx="2638425" cy="4629150"/>
          </a:xfrm>
          <a:prstGeom prst="rect">
            <a:avLst/>
          </a:prstGeom>
        </p:spPr>
      </p:pic>
      <p:pic>
        <p:nvPicPr>
          <p:cNvPr id="8" name="Imagen 7" descr="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325" y="1100455"/>
            <a:ext cx="2628900" cy="4657725"/>
          </a:xfrm>
          <a:prstGeom prst="rect">
            <a:avLst/>
          </a:prstGeom>
        </p:spPr>
      </p:pic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s-MX" altLang="en-US"/>
              <a:t>Interfaz: cuando no hay una alerta activa </a:t>
            </a:r>
            <a:endParaRPr lang="es-MX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s-MX" altLang="en-US"/>
              <a:t>Interfaz: cuando hay una alerta activa </a:t>
            </a:r>
            <a:endParaRPr lang="es-MX" altLang="en-US"/>
          </a:p>
        </p:txBody>
      </p:sp>
      <p:pic>
        <p:nvPicPr>
          <p:cNvPr id="4" name="Imagen 3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3325" y="1114425"/>
            <a:ext cx="2619375" cy="4629150"/>
          </a:xfrm>
          <a:prstGeom prst="rect">
            <a:avLst/>
          </a:prstGeom>
        </p:spPr>
      </p:pic>
      <p:pic>
        <p:nvPicPr>
          <p:cNvPr id="5" name="Imagen 4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840" y="1114425"/>
            <a:ext cx="2619375" cy="4638675"/>
          </a:xfrm>
          <a:prstGeom prst="rect">
            <a:avLst/>
          </a:prstGeom>
        </p:spPr>
      </p:pic>
      <p:sp>
        <p:nvSpPr>
          <p:cNvPr id="6" name="Óvalo 5"/>
          <p:cNvSpPr/>
          <p:nvPr/>
        </p:nvSpPr>
        <p:spPr>
          <a:xfrm>
            <a:off x="3654425" y="3347720"/>
            <a:ext cx="257175" cy="257175"/>
          </a:xfrm>
          <a:prstGeom prst="ellipse">
            <a:avLst/>
          </a:prstGeom>
          <a:gradFill rotWithShape="0">
            <a:gsLst>
              <a:gs pos="100000">
                <a:srgbClr val="C00000">
                  <a:alpha val="0"/>
                </a:srgbClr>
              </a:gs>
              <a:gs pos="0">
                <a:srgbClr val="760303"/>
              </a:gs>
            </a:gsLst>
            <a:path path="shape">
              <a:fillToRect l="50000" t="50000" r="50000" b="50000"/>
            </a:path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s-MX" altLang="en-US"/>
              <a:t>Interfaz: ayuda psicologica</a:t>
            </a:r>
            <a:endParaRPr lang="es-MX" altLang="en-US"/>
          </a:p>
        </p:txBody>
      </p:sp>
      <p:pic>
        <p:nvPicPr>
          <p:cNvPr id="5" name="Imagen 4" descr="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1075" y="1119505"/>
            <a:ext cx="2609850" cy="46196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520700"/>
            <a:ext cx="10972800" cy="1026795"/>
          </a:xfrm>
        </p:spPr>
        <p:txBody>
          <a:bodyPr/>
          <a:p>
            <a:r>
              <a:rPr lang="es-MX" altLang="en-US" b="1"/>
              <a:t>Tabla de finanzas para el presupuesto del proyecto:</a:t>
            </a:r>
            <a:endParaRPr lang="es-MX" altLang="en-US" b="1"/>
          </a:p>
        </p:txBody>
      </p:sp>
      <p:graphicFrame>
        <p:nvGraphicFramePr>
          <p:cNvPr id="7" name="Tabla 6"/>
          <p:cNvGraphicFramePr/>
          <p:nvPr/>
        </p:nvGraphicFramePr>
        <p:xfrm>
          <a:off x="1702435" y="1979295"/>
          <a:ext cx="8418195" cy="180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6065"/>
                <a:gridCol w="2806065"/>
                <a:gridCol w="2806065"/>
              </a:tblGrid>
              <a:tr h="388620">
                <a:tc>
                  <a:txBody>
                    <a:bodyPr/>
                    <a:p>
                      <a:pPr>
                        <a:buNone/>
                      </a:pPr>
                      <a:r>
                        <a:rPr lang="es-MX" altLang="en-US"/>
                        <a:t>Material</a:t>
                      </a:r>
                      <a:endParaRPr lang="es-MX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s-MX" altLang="en-US"/>
                        <a:t>Costos</a:t>
                      </a:r>
                      <a:endParaRPr lang="es-MX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s-MX" altLang="en-US"/>
                        <a:t>Unidades</a:t>
                      </a:r>
                      <a:endParaRPr lang="es-MX" altLang="en-US"/>
                    </a:p>
                  </a:txBody>
                  <a:tcPr/>
                </a:tc>
              </a:tr>
              <a:tr h="388620">
                <a:tc>
                  <a:txBody>
                    <a:bodyPr/>
                    <a:p>
                      <a:pPr>
                        <a:buNone/>
                      </a:pPr>
                      <a:r>
                        <a:rPr lang="es-MX" altLang="en-US"/>
                        <a:t>Botones de alarma</a:t>
                      </a:r>
                      <a:endParaRPr lang="es-MX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s-MX" altLang="en-US"/>
                        <a:t>300.00</a:t>
                      </a:r>
                      <a:endParaRPr lang="es-MX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s-MX" altLang="en-US"/>
                        <a:t>500</a:t>
                      </a:r>
                      <a:endParaRPr lang="es-MX" altLang="en-US"/>
                    </a:p>
                  </a:txBody>
                  <a:tcPr/>
                </a:tc>
              </a:tr>
              <a:tr h="388620">
                <a:tc>
                  <a:txBody>
                    <a:bodyPr/>
                    <a:p>
                      <a:pPr>
                        <a:buNone/>
                      </a:pPr>
                      <a:r>
                        <a:rPr lang="es-MX" altLang="en-US"/>
                        <a:t>Servidores</a:t>
                      </a:r>
                      <a:endParaRPr lang="es-MX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s-MX" altLang="en-US"/>
                        <a:t>680.00</a:t>
                      </a:r>
                      <a:endParaRPr lang="es-MX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s-MX" altLang="en-US"/>
                        <a:t>4</a:t>
                      </a:r>
                      <a:endParaRPr lang="es-MX" alt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s-MX" altLang="en-US" sz="1800">
                          <a:sym typeface="+mn-ea"/>
                        </a:rPr>
                        <a:t>Instalación</a:t>
                      </a:r>
                      <a:endParaRPr lang="es-MX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s-MX" altLang="en-US" sz="1800">
                          <a:sym typeface="+mn-ea"/>
                        </a:rPr>
                        <a:t>150.00</a:t>
                      </a:r>
                      <a:endParaRPr lang="es-MX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s-MX" altLang="en-US" sz="1800">
                          <a:sym typeface="+mn-ea"/>
                        </a:rPr>
                        <a:t>500</a:t>
                      </a:r>
                      <a:endParaRPr lang="es-MX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Tabla 7"/>
          <p:cNvGraphicFramePr/>
          <p:nvPr/>
        </p:nvGraphicFramePr>
        <p:xfrm>
          <a:off x="1701800" y="4483100"/>
          <a:ext cx="841883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8830"/>
              </a:tblGrid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s-MX" altLang="en-US"/>
                        <a:t>Costo total:                                                          227,720.00</a:t>
                      </a:r>
                      <a:endParaRPr lang="es-MX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776</Words>
  <Application>WPS Presentation</Application>
  <PresentationFormat>宽屏</PresentationFormat>
  <Paragraphs>55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SimSun</vt:lpstr>
      <vt:lpstr>Wingdings</vt:lpstr>
      <vt:lpstr>Calibri Light</vt:lpstr>
      <vt:lpstr>Arial Unicode MS</vt:lpstr>
      <vt:lpstr>Microsoft YaHei</vt:lpstr>
      <vt:lpstr>Calibri</vt:lpstr>
      <vt:lpstr>Blue Waves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Interfaz: cuando hay una alerta activa 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angel</dc:creator>
  <cp:lastModifiedBy>angel</cp:lastModifiedBy>
  <cp:revision>3</cp:revision>
  <dcterms:created xsi:type="dcterms:W3CDTF">2023-11-23T13:55:42Z</dcterms:created>
  <dcterms:modified xsi:type="dcterms:W3CDTF">2023-11-23T18:19:26Z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2058-12.2.0.13306</vt:lpwstr>
  </property>
  <property fmtid="{D5CDD505-2E9C-101B-9397-08002B2CF9AE}" pid="3" name="ICV">
    <vt:lpwstr>4BABC2A49AC346D38076D2DC757A63A2_11</vt:lpwstr>
  </property>
</Properties>
</file>